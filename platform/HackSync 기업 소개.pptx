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9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빈 손" userId="c52153352ade6557" providerId="LiveId" clId="{352F1053-D622-4093-80C0-8C2DF2F45064}"/>
    <pc:docChg chg="custSel modSld">
      <pc:chgData name="영빈 손" userId="c52153352ade6557" providerId="LiveId" clId="{352F1053-D622-4093-80C0-8C2DF2F45064}" dt="2026-06-19T04:33:34.175" v="4" actId="478"/>
      <pc:docMkLst>
        <pc:docMk/>
      </pc:docMkLst>
      <pc:sldChg chg="addSp delSp modSp mod">
        <pc:chgData name="영빈 손" userId="c52153352ade6557" providerId="LiveId" clId="{352F1053-D622-4093-80C0-8C2DF2F45064}" dt="2026-06-19T04:33:34.175" v="4" actId="478"/>
        <pc:sldMkLst>
          <pc:docMk/>
          <pc:sldMk cId="0" sldId="257"/>
        </pc:sldMkLst>
        <pc:spChg chg="del">
          <ac:chgData name="영빈 손" userId="c52153352ade6557" providerId="LiveId" clId="{352F1053-D622-4093-80C0-8C2DF2F45064}" dt="2026-06-19T04:33:34.175" v="4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영빈 손" userId="c52153352ade6557" providerId="LiveId" clId="{352F1053-D622-4093-80C0-8C2DF2F45064}" dt="2026-06-19T04:32:05.509" v="0" actId="478"/>
          <ac:spMkLst>
            <pc:docMk/>
            <pc:sldMk cId="0" sldId="257"/>
            <ac:spMk id="5" creationId="{00000000-0000-0000-0000-000000000000}"/>
          </ac:spMkLst>
        </pc:spChg>
        <pc:spChg chg="del">
          <ac:chgData name="영빈 손" userId="c52153352ade6557" providerId="LiveId" clId="{352F1053-D622-4093-80C0-8C2DF2F45064}" dt="2026-06-19T04:32:05.509" v="0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영빈 손" userId="c52153352ade6557" providerId="LiveId" clId="{352F1053-D622-4093-80C0-8C2DF2F45064}" dt="2026-06-19T04:32:05.509" v="0" actId="478"/>
          <ac:spMkLst>
            <pc:docMk/>
            <pc:sldMk cId="0" sldId="257"/>
            <ac:spMk id="13" creationId="{00000000-0000-0000-0000-000000000000}"/>
          </ac:spMkLst>
        </pc:spChg>
        <pc:spChg chg="del">
          <ac:chgData name="영빈 손" userId="c52153352ade6557" providerId="LiveId" clId="{352F1053-D622-4093-80C0-8C2DF2F45064}" dt="2026-06-19T04:32:05.509" v="0" actId="478"/>
          <ac:spMkLst>
            <pc:docMk/>
            <pc:sldMk cId="0" sldId="257"/>
            <ac:spMk id="14" creationId="{00000000-0000-0000-0000-000000000000}"/>
          </ac:spMkLst>
        </pc:spChg>
        <pc:spChg chg="del">
          <ac:chgData name="영빈 손" userId="c52153352ade6557" providerId="LiveId" clId="{352F1053-D622-4093-80C0-8C2DF2F45064}" dt="2026-06-19T04:32:05.509" v="0" actId="478"/>
          <ac:spMkLst>
            <pc:docMk/>
            <pc:sldMk cId="0" sldId="257"/>
            <ac:spMk id="16" creationId="{00000000-0000-0000-0000-000000000000}"/>
          </ac:spMkLst>
        </pc:spChg>
        <pc:spChg chg="del">
          <ac:chgData name="영빈 손" userId="c52153352ade6557" providerId="LiveId" clId="{352F1053-D622-4093-80C0-8C2DF2F45064}" dt="2026-06-19T04:32:05.509" v="0" actId="478"/>
          <ac:spMkLst>
            <pc:docMk/>
            <pc:sldMk cId="0" sldId="257"/>
            <ac:spMk id="19" creationId="{00000000-0000-0000-0000-000000000000}"/>
          </ac:spMkLst>
        </pc:spChg>
        <pc:spChg chg="del">
          <ac:chgData name="영빈 손" userId="c52153352ade6557" providerId="LiveId" clId="{352F1053-D622-4093-80C0-8C2DF2F45064}" dt="2026-06-19T04:32:05.509" v="0" actId="478"/>
          <ac:spMkLst>
            <pc:docMk/>
            <pc:sldMk cId="0" sldId="257"/>
            <ac:spMk id="21" creationId="{00000000-0000-0000-0000-000000000000}"/>
          </ac:spMkLst>
        </pc:spChg>
        <pc:spChg chg="del">
          <ac:chgData name="영빈 손" userId="c52153352ade6557" providerId="LiveId" clId="{352F1053-D622-4093-80C0-8C2DF2F45064}" dt="2026-06-19T04:32:05.509" v="0" actId="478"/>
          <ac:spMkLst>
            <pc:docMk/>
            <pc:sldMk cId="0" sldId="257"/>
            <ac:spMk id="23" creationId="{00000000-0000-0000-0000-000000000000}"/>
          </ac:spMkLst>
        </pc:spChg>
        <pc:spChg chg="del">
          <ac:chgData name="영빈 손" userId="c52153352ade6557" providerId="LiveId" clId="{352F1053-D622-4093-80C0-8C2DF2F45064}" dt="2026-06-19T04:32:05.509" v="0" actId="478"/>
          <ac:spMkLst>
            <pc:docMk/>
            <pc:sldMk cId="0" sldId="257"/>
            <ac:spMk id="26" creationId="{00000000-0000-0000-0000-000000000000}"/>
          </ac:spMkLst>
        </pc:spChg>
        <pc:spChg chg="del">
          <ac:chgData name="영빈 손" userId="c52153352ade6557" providerId="LiveId" clId="{352F1053-D622-4093-80C0-8C2DF2F45064}" dt="2026-06-19T04:32:05.509" v="0" actId="478"/>
          <ac:spMkLst>
            <pc:docMk/>
            <pc:sldMk cId="0" sldId="257"/>
            <ac:spMk id="27" creationId="{00000000-0000-0000-0000-000000000000}"/>
          </ac:spMkLst>
        </pc:spChg>
        <pc:picChg chg="add mod">
          <ac:chgData name="영빈 손" userId="c52153352ade6557" providerId="LiveId" clId="{352F1053-D622-4093-80C0-8C2DF2F45064}" dt="2026-06-19T04:33:30.966" v="3" actId="14100"/>
          <ac:picMkLst>
            <pc:docMk/>
            <pc:sldMk cId="0" sldId="257"/>
            <ac:picMk id="32" creationId="{86D91ED6-8061-7FAD-6374-E90AE5E7DA2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5277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7315200" cy="7315200"/>
          </a:xfrm>
          <a:prstGeom prst="ellipse">
            <a:avLst/>
          </a:prstGeom>
          <a:solidFill>
            <a:srgbClr val="7C6BFF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159752" y="1828800"/>
            <a:ext cx="7315200" cy="7315200"/>
          </a:xfrm>
          <a:prstGeom prst="ellipse">
            <a:avLst/>
          </a:prstGeom>
          <a:solidFill>
            <a:srgbClr val="4C3AAE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HackSync</a:t>
            </a:r>
            <a:r>
              <a:rPr lang="en-US" sz="1700" b="1" dirty="0">
                <a:solidFill>
                  <a:srgbClr val="7C6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291840" cy="475488"/>
          </a:xfrm>
          <a:prstGeom prst="roundRect">
            <a:avLst>
              <a:gd name="adj" fmla="val 50000"/>
            </a:avLst>
          </a:prstGeom>
          <a:solidFill>
            <a:srgbClr val="262050"/>
          </a:solidFill>
          <a:ln w="12700">
            <a:solidFill>
              <a:srgbClr val="3A33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54533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4173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7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리소스 70% 절감 솔루션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20574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HackSync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640080" y="31546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A78B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올인원 해커톤 · 공모전 운영 플랫폼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640080" y="38862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파편화된 대회 운영을, 하나의 코어로 동기화하다.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주최자 · 심사위원 · 참가자를 한 사이트에서 잇는 B2B 공모전 플랫폼.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E7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HackSync 서비스 소개서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839712" y="1901952"/>
            <a:ext cx="4791456" cy="1988418"/>
          </a:xfrm>
          <a:prstGeom prst="roundRect">
            <a:avLst>
              <a:gd name="adj" fmla="val 6438"/>
            </a:avLst>
          </a:prstGeom>
          <a:solidFill>
            <a:srgbClr val="3A3370"/>
          </a:solidFill>
          <a:ln/>
          <a:effectLst>
            <a:outerShdw blurRad="203200" dist="889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img/lan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965960"/>
            <a:ext cx="4663440" cy="18604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7315200" cy="7315200"/>
          </a:xfrm>
          <a:prstGeom prst="ellipse">
            <a:avLst/>
          </a:prstGeom>
          <a:solidFill>
            <a:srgbClr val="7C6BFF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86D91ED6-8061-7FAD-6374-E90AE5E7D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4120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7315200" cy="7315200"/>
          </a:xfrm>
          <a:prstGeom prst="ellipse">
            <a:avLst/>
          </a:prstGeom>
          <a:solidFill>
            <a:srgbClr val="7C6BFF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159752" y="1828800"/>
            <a:ext cx="7315200" cy="7315200"/>
          </a:xfrm>
          <a:prstGeom prst="ellipse">
            <a:avLst/>
          </a:prstGeom>
          <a:solidFill>
            <a:srgbClr val="4C3AAE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HackSync</a:t>
            </a:r>
            <a:r>
              <a:rPr lang="en-US" sz="1700" b="1" dirty="0">
                <a:solidFill>
                  <a:srgbClr val="7C6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명의 사용자, 하나의 플랫폼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HackSync는 로그인하는 역할에 맞춰 전용 화면을 자동으로 보여줍니다.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입력된 데이터는 실시간으로 서로 연결됩니다.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951476" y="3291840"/>
            <a:ext cx="2286000" cy="1371600"/>
          </a:xfrm>
          <a:prstGeom prst="roundRect">
            <a:avLst>
              <a:gd name="adj" fmla="val 10667"/>
            </a:avLst>
          </a:prstGeom>
          <a:solidFill>
            <a:srgbClr val="7C6BFF"/>
          </a:solidFill>
          <a:ln/>
          <a:effectLst>
            <a:outerShdw blurRad="228600" dist="50800" dir="5400000" algn="bl" rotWithShape="0">
              <a:srgbClr val="7C6BFF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588" y="3529584"/>
            <a:ext cx="493776" cy="4937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51476" y="4041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HackSync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951476" y="4325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4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코어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22376" y="4892040"/>
            <a:ext cx="3246120" cy="1508760"/>
          </a:xfrm>
          <a:prstGeom prst="roundRect">
            <a:avLst>
              <a:gd name="adj" fmla="val 7273"/>
            </a:avLst>
          </a:prstGeom>
          <a:solidFill>
            <a:srgbClr val="1D1742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996696" y="5166360"/>
            <a:ext cx="603504" cy="603504"/>
          </a:xfrm>
          <a:prstGeom prst="ellipse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677" y="5335341"/>
            <a:ext cx="265542" cy="26554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09928" y="520293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주최자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996696" y="5806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대회 생성부터 지원자 관리,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심사 집계, 결과 통보까지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화면에서 총괄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471416" y="4892040"/>
            <a:ext cx="3246120" cy="1508760"/>
          </a:xfrm>
          <a:prstGeom prst="roundRect">
            <a:avLst>
              <a:gd name="adj" fmla="val 7273"/>
            </a:avLst>
          </a:prstGeom>
          <a:solidFill>
            <a:srgbClr val="1D1742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745736" y="5166360"/>
            <a:ext cx="603504" cy="603504"/>
          </a:xfrm>
          <a:prstGeom prst="ellipse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717" y="5335341"/>
            <a:ext cx="265542" cy="26554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58968" y="520293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심사위원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4745736" y="5806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배정된 팀을 슬라이더로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채점하면 점수가 자동 계산되어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순위에 즉시 반영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220456" y="4892040"/>
            <a:ext cx="3246120" cy="1508760"/>
          </a:xfrm>
          <a:prstGeom prst="roundRect">
            <a:avLst>
              <a:gd name="adj" fmla="val 7273"/>
            </a:avLst>
          </a:prstGeom>
          <a:solidFill>
            <a:srgbClr val="1D1742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8494776" y="5166360"/>
            <a:ext cx="603504" cy="603504"/>
          </a:xfrm>
          <a:prstGeom prst="ellipse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3757" y="5335341"/>
            <a:ext cx="265542" cy="26554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08008" y="520293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참가자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8494776" y="5806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스킬·포트폴리오로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팀원을 찾고, 내 팀을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꾸리기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6094476" y="4663440"/>
            <a:ext cx="0" cy="228600"/>
          </a:xfrm>
          <a:prstGeom prst="line">
            <a:avLst/>
          </a:prstGeom>
          <a:noFill/>
          <a:ln w="19050">
            <a:solidFill>
              <a:srgbClr val="3A33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6094476" y="4663440"/>
            <a:ext cx="0" cy="228600"/>
          </a:xfrm>
          <a:prstGeom prst="line">
            <a:avLst/>
          </a:prstGeom>
          <a:noFill/>
          <a:ln w="19050">
            <a:solidFill>
              <a:srgbClr val="3A33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3"/>
          <p:cNvSpPr/>
          <p:nvPr/>
        </p:nvSpPr>
        <p:spPr>
          <a:xfrm>
            <a:off x="6094476" y="4663440"/>
            <a:ext cx="3749040" cy="228600"/>
          </a:xfrm>
          <a:prstGeom prst="line">
            <a:avLst/>
          </a:prstGeom>
          <a:noFill/>
          <a:ln w="19050">
            <a:solidFill>
              <a:srgbClr val="3A33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4"/>
          <p:cNvSpPr/>
          <p:nvPr/>
        </p:nvSpPr>
        <p:spPr>
          <a:xfrm>
            <a:off x="8503920" y="1143000"/>
            <a:ext cx="3044952" cy="960120"/>
          </a:xfrm>
          <a:prstGeom prst="roundRect">
            <a:avLst>
              <a:gd name="adj" fmla="val 11429"/>
            </a:avLst>
          </a:prstGeom>
          <a:solidFill>
            <a:srgbClr val="262050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5"/>
          <p:cNvSpPr/>
          <p:nvPr/>
        </p:nvSpPr>
        <p:spPr>
          <a:xfrm>
            <a:off x="8503920" y="1143000"/>
            <a:ext cx="3044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7B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70%</a:t>
            </a:r>
            <a:r>
              <a:rPr lang="en-US" sz="1300" dirty="0">
                <a:solidFill>
                  <a:srgbClr val="ABA4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운영 리소스 절감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7315200" cy="7315200"/>
          </a:xfrm>
          <a:prstGeom prst="ellipse">
            <a:avLst/>
          </a:prstGeom>
          <a:solidFill>
            <a:srgbClr val="7C6BFF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159752" y="1828800"/>
            <a:ext cx="7315200" cy="7315200"/>
          </a:xfrm>
          <a:prstGeom prst="ellipse">
            <a:avLst/>
          </a:prstGeom>
          <a:solidFill>
            <a:srgbClr val="4C3AAE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HackSync</a:t>
            </a:r>
            <a:r>
              <a:rPr lang="en-US" sz="1700" b="1" dirty="0">
                <a:solidFill>
                  <a:srgbClr val="7C6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참가자 화면 · 팀 빌딩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함께할 크루를, 검증된 정보로 찾는다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4572000" cy="1234440"/>
          </a:xfrm>
          <a:prstGeom prst="roundRect">
            <a:avLst>
              <a:gd name="adj" fmla="val 8889"/>
            </a:avLst>
          </a:prstGeom>
          <a:solidFill>
            <a:srgbClr val="1D1742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2478024"/>
            <a:ext cx="566928" cy="566928"/>
          </a:xfrm>
          <a:prstGeom prst="ellipse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40" y="2636764"/>
            <a:ext cx="249448" cy="2494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3500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스킬·역할로 검색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600200" y="269748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Frontend·Backend·AI/Data 등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직무별 필터와 키워드 검색 지원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3547872"/>
            <a:ext cx="4572000" cy="1234440"/>
          </a:xfrm>
          <a:prstGeom prst="roundRect">
            <a:avLst>
              <a:gd name="adj" fmla="val 8889"/>
            </a:avLst>
          </a:prstGeom>
          <a:solidFill>
            <a:srgbClr val="1D1742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914400" y="3877056"/>
            <a:ext cx="566928" cy="566928"/>
          </a:xfrm>
          <a:prstGeom prst="ellipse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140" y="4035796"/>
            <a:ext cx="249448" cy="2494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00200" y="3749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매칭도로 한눈에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1600200" y="409651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나와 얼마나 잘 맞는지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매칭률(%)로 표시해 영입 결정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4946904"/>
            <a:ext cx="4572000" cy="1234440"/>
          </a:xfrm>
          <a:prstGeom prst="roundRect">
            <a:avLst>
              <a:gd name="adj" fmla="val 8889"/>
            </a:avLst>
          </a:prstGeom>
          <a:solidFill>
            <a:srgbClr val="1D1742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914400" y="5276088"/>
            <a:ext cx="566928" cy="566928"/>
          </a:xfrm>
          <a:prstGeom prst="ellipse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140" y="5434828"/>
            <a:ext cx="249448" cy="2494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51480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팀 직접 관리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1600200" y="549554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이름·트랙·모집 인원을 정하고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빈자리와 멤버를 한눈에 확인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742432" y="2084832"/>
            <a:ext cx="5870448" cy="2801946"/>
          </a:xfrm>
          <a:prstGeom prst="roundRect">
            <a:avLst>
              <a:gd name="adj" fmla="val 4569"/>
            </a:avLst>
          </a:prstGeom>
          <a:solidFill>
            <a:srgbClr val="3A3370"/>
          </a:solidFill>
          <a:ln/>
          <a:effectLst>
            <a:outerShdw blurRad="203200" dist="889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img/te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0" y="2148840"/>
            <a:ext cx="5742432" cy="267393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806440" y="4937760"/>
            <a:ext cx="5742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E7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참가자 팀빌딩 화면 — 매칭률과 포트폴리오로 팀원을 영입합니다.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7315200" cy="7315200"/>
          </a:xfrm>
          <a:prstGeom prst="ellipse">
            <a:avLst/>
          </a:prstGeom>
          <a:solidFill>
            <a:srgbClr val="7C6BFF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159752" y="1828800"/>
            <a:ext cx="7315200" cy="7315200"/>
          </a:xfrm>
          <a:prstGeom prst="ellipse">
            <a:avLst/>
          </a:prstGeom>
          <a:solidFill>
            <a:srgbClr val="4C3AAE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HackSync</a:t>
            </a:r>
            <a:r>
              <a:rPr lang="en-US" sz="1700" b="1" dirty="0">
                <a:solidFill>
                  <a:srgbClr val="7C6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심사위원 화면 · 채점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배정된 팀만, 클릭 몇 번으로 채점한다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76072" y="2084832"/>
            <a:ext cx="5870448" cy="2473430"/>
          </a:xfrm>
          <a:prstGeom prst="roundRect">
            <a:avLst>
              <a:gd name="adj" fmla="val 5176"/>
            </a:avLst>
          </a:prstGeom>
          <a:solidFill>
            <a:srgbClr val="3A3370"/>
          </a:solidFill>
          <a:ln/>
          <a:effectLst>
            <a:outerShdw blurRad="203200" dist="889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img/ju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48840"/>
            <a:ext cx="5742432" cy="234541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892040"/>
            <a:ext cx="5742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E7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심사위원 화면 — 배정된 팀과 제출 자료(PDF·GitHub·영상)를 바로 확인합니다.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55080" y="2148840"/>
            <a:ext cx="5166360" cy="914400"/>
          </a:xfrm>
          <a:prstGeom prst="roundRect">
            <a:avLst>
              <a:gd name="adj" fmla="val 12000"/>
            </a:avLst>
          </a:prstGeom>
          <a:solidFill>
            <a:srgbClr val="1D1742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611112" y="2331720"/>
            <a:ext cx="530352" cy="530352"/>
          </a:xfrm>
          <a:prstGeom prst="ellipse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611" y="2480219"/>
            <a:ext cx="233355" cy="23335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26771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몫만 명확하게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269480" y="25786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나에게 배정된 팀만 카드로 모아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미완료 건수까지 한눈에 표시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355080" y="3209544"/>
            <a:ext cx="5166360" cy="914400"/>
          </a:xfrm>
          <a:prstGeom prst="roundRect">
            <a:avLst>
              <a:gd name="adj" fmla="val 12000"/>
            </a:avLst>
          </a:prstGeom>
          <a:solidFill>
            <a:srgbClr val="1D1742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611112" y="3392424"/>
            <a:ext cx="530352" cy="530352"/>
          </a:xfrm>
          <a:prstGeom prst="ellipse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9611" y="3540923"/>
            <a:ext cx="233355" cy="23335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69480" y="332841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자료를 바로 열람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7269480" y="363931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PDF·GitHub·시연 영상 링크를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화면에서 클릭 한 번으로 확인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355080" y="4270248"/>
            <a:ext cx="5166360" cy="914400"/>
          </a:xfrm>
          <a:prstGeom prst="roundRect">
            <a:avLst>
              <a:gd name="adj" fmla="val 12000"/>
            </a:avLst>
          </a:prstGeom>
          <a:solidFill>
            <a:srgbClr val="1D1742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6611112" y="4453128"/>
            <a:ext cx="530352" cy="530352"/>
          </a:xfrm>
          <a:prstGeom prst="ellipse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9611" y="4601627"/>
            <a:ext cx="233355" cy="23335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438912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슬라이더로 채점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269480" y="470001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창의성·완성도·발표력을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슬라이더로 입력하면 끝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355080" y="5330952"/>
            <a:ext cx="5166360" cy="914400"/>
          </a:xfrm>
          <a:prstGeom prst="roundRect">
            <a:avLst>
              <a:gd name="adj" fmla="val 12000"/>
            </a:avLst>
          </a:prstGeom>
          <a:solidFill>
            <a:srgbClr val="1D1742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6611112" y="5513832"/>
            <a:ext cx="530352" cy="530352"/>
          </a:xfrm>
          <a:prstGeom prst="ellipse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9611" y="5662331"/>
            <a:ext cx="233355" cy="23335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269480" y="5449824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총점 자동 계산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7269480" y="57607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기준별 비중이 자동 반영되어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총점이 즉시 순위에 연결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7315200" cy="7315200"/>
          </a:xfrm>
          <a:prstGeom prst="ellipse">
            <a:avLst/>
          </a:prstGeom>
          <a:solidFill>
            <a:srgbClr val="7C6BFF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159752" y="1828800"/>
            <a:ext cx="7315200" cy="7315200"/>
          </a:xfrm>
          <a:prstGeom prst="ellipse">
            <a:avLst/>
          </a:prstGeom>
          <a:solidFill>
            <a:srgbClr val="4C3AAE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HackSync</a:t>
            </a:r>
            <a:r>
              <a:rPr lang="en-US" sz="1700" b="1" dirty="0">
                <a:solidFill>
                  <a:srgbClr val="7C6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주최자 화면 · 통합 대시보드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대회 전체를, 실시간 숫자로 통제한다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2615184" cy="960120"/>
          </a:xfrm>
          <a:prstGeom prst="roundRect">
            <a:avLst>
              <a:gd name="adj" fmla="val 11429"/>
            </a:avLst>
          </a:prstGeom>
          <a:solidFill>
            <a:srgbClr val="262050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8680" y="2212848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7B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428명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86968" y="272491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지원자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10712" y="2103120"/>
            <a:ext cx="2615184" cy="960120"/>
          </a:xfrm>
          <a:prstGeom prst="roundRect">
            <a:avLst>
              <a:gd name="adj" fmla="val 11429"/>
            </a:avLst>
          </a:prstGeom>
          <a:solidFill>
            <a:srgbClr val="262050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639312" y="2212848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57600" y="272491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빌딩 완료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1344" y="2103120"/>
            <a:ext cx="2615184" cy="960120"/>
          </a:xfrm>
          <a:prstGeom prst="roundRect">
            <a:avLst>
              <a:gd name="adj" fmla="val 11429"/>
            </a:avLst>
          </a:prstGeom>
          <a:solidFill>
            <a:srgbClr val="262050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9944" y="2212848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28232" y="272491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 제출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51976" y="2103120"/>
            <a:ext cx="2615184" cy="960120"/>
          </a:xfrm>
          <a:prstGeom prst="roundRect">
            <a:avLst>
              <a:gd name="adj" fmla="val 11429"/>
            </a:avLst>
          </a:prstGeom>
          <a:solidFill>
            <a:srgbClr val="262050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180576" y="2212848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198864" y="272491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채점 진행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" y="3273552"/>
            <a:ext cx="6803136" cy="2836554"/>
          </a:xfrm>
          <a:prstGeom prst="roundRect">
            <a:avLst>
              <a:gd name="adj" fmla="val 4513"/>
            </a:avLst>
          </a:prstGeom>
          <a:solidFill>
            <a:srgbClr val="3A3370"/>
          </a:solidFill>
          <a:ln/>
          <a:effectLst>
            <a:outerShdw blurRad="203200" dist="889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0" descr="img/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37560"/>
            <a:ext cx="6675120" cy="270853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7863840" y="3291840"/>
            <a:ext cx="3685032" cy="1005840"/>
          </a:xfrm>
          <a:prstGeom prst="roundRect">
            <a:avLst>
              <a:gd name="adj" fmla="val 10909"/>
            </a:avLst>
          </a:prstGeom>
          <a:solidFill>
            <a:srgbClr val="1D1742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8101584" y="3520440"/>
            <a:ext cx="548640" cy="548640"/>
          </a:xfrm>
          <a:prstGeom prst="ellipse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203" y="3674059"/>
            <a:ext cx="241402" cy="24140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778240" y="3456432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한눈에 보는 현황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8778240" y="3767328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지원자 분포·포지션 비율 등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지표를 차트로 시각화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7863840" y="4407408"/>
            <a:ext cx="3685032" cy="1005840"/>
          </a:xfrm>
          <a:prstGeom prst="roundRect">
            <a:avLst>
              <a:gd name="adj" fmla="val 10909"/>
            </a:avLst>
          </a:prstGeom>
          <a:solidFill>
            <a:srgbClr val="1D1742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3"/>
          <p:cNvSpPr/>
          <p:nvPr/>
        </p:nvSpPr>
        <p:spPr>
          <a:xfrm>
            <a:off x="8101584" y="4636008"/>
            <a:ext cx="548640" cy="548640"/>
          </a:xfrm>
          <a:prstGeom prst="ellipse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5203" y="4789627"/>
            <a:ext cx="241402" cy="24140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778240" y="4572000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 결과 자동 집계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8778240" y="4882896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심사위원의 점수를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비중까지 반영해 실시간 랭킹화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7863840" y="5522976"/>
            <a:ext cx="3685032" cy="1005840"/>
          </a:xfrm>
          <a:prstGeom prst="roundRect">
            <a:avLst>
              <a:gd name="adj" fmla="val 10909"/>
            </a:avLst>
          </a:prstGeom>
          <a:solidFill>
            <a:srgbClr val="1D1742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7"/>
          <p:cNvSpPr/>
          <p:nvPr/>
        </p:nvSpPr>
        <p:spPr>
          <a:xfrm>
            <a:off x="8101584" y="5751576"/>
            <a:ext cx="548640" cy="548640"/>
          </a:xfrm>
          <a:prstGeom prst="ellipse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5203" y="5905195"/>
            <a:ext cx="241402" cy="24140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778240" y="5687568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통보 (CRM)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8778240" y="5998464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합격·불합격 그룹을 골라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이메일·알림톡으로 한 번에 발송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7315200" cy="7315200"/>
          </a:xfrm>
          <a:prstGeom prst="ellipse">
            <a:avLst/>
          </a:prstGeom>
          <a:solidFill>
            <a:srgbClr val="7C6BFF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159752" y="1828800"/>
            <a:ext cx="7315200" cy="7315200"/>
          </a:xfrm>
          <a:prstGeom prst="ellipse">
            <a:avLst/>
          </a:prstGeom>
          <a:solidFill>
            <a:srgbClr val="4C3AAE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HackSync</a:t>
            </a:r>
            <a:r>
              <a:rPr lang="en-US" sz="1700" b="1" dirty="0">
                <a:solidFill>
                  <a:srgbClr val="7C6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접수부터 결과 발표까지, 4가지 핵심 기능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1D1742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663440" y="242316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2E27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1005840" y="2715768"/>
            <a:ext cx="713232" cy="713232"/>
          </a:xfrm>
          <a:prstGeom prst="ellipse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545" y="2915473"/>
            <a:ext cx="313822" cy="31382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38528" y="275234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대회 생성 &amp; 자동 랜딩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24128" y="344728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폼을 채우면 참가자용 대회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페이지가 자동으로 만들어집니다.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27648" y="233172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1D1742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10351008" y="242316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2E27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4400" dirty="0"/>
          </a:p>
        </p:txBody>
      </p:sp>
      <p:sp>
        <p:nvSpPr>
          <p:cNvPr id="15" name="Shape 12"/>
          <p:cNvSpPr/>
          <p:nvPr/>
        </p:nvSpPr>
        <p:spPr>
          <a:xfrm>
            <a:off x="6693408" y="2715768"/>
            <a:ext cx="713232" cy="713232"/>
          </a:xfrm>
          <a:prstGeom prst="ellipse">
            <a:avLst/>
          </a:prstGeom>
          <a:solidFill>
            <a:srgbClr val="5B49E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3113" y="2915473"/>
            <a:ext cx="313822" cy="31382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626096" y="275234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 팀 빌딩 &amp; 매칭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711696" y="344728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GitHub·Notion 포트폴리오를 연동해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스킬에 맞는 팀원을 추천합니다.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40080" y="4370832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1D1742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4663440" y="4462272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2E27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4400" dirty="0"/>
          </a:p>
        </p:txBody>
      </p:sp>
      <p:sp>
        <p:nvSpPr>
          <p:cNvPr id="21" name="Shape 17"/>
          <p:cNvSpPr/>
          <p:nvPr/>
        </p:nvSpPr>
        <p:spPr>
          <a:xfrm>
            <a:off x="1005840" y="4754880"/>
            <a:ext cx="713232" cy="713232"/>
          </a:xfrm>
          <a:prstGeom prst="ellipse">
            <a:avLst/>
          </a:prstGeom>
          <a:solidFill>
            <a:srgbClr val="6E5CF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5545" y="4954585"/>
            <a:ext cx="313822" cy="31382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938528" y="479145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채점 &amp; 자동 랭킹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1024128" y="54864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심사위원이 동시에 채점해도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비중 반영 총점이 자동 집계됩니다.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327648" y="4370832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1D1742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/>
          <p:nvPr/>
        </p:nvSpPr>
        <p:spPr>
          <a:xfrm>
            <a:off x="10351008" y="4462272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2E27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4400" dirty="0"/>
          </a:p>
        </p:txBody>
      </p:sp>
      <p:sp>
        <p:nvSpPr>
          <p:cNvPr id="27" name="Shape 22"/>
          <p:cNvSpPr/>
          <p:nvPr/>
        </p:nvSpPr>
        <p:spPr>
          <a:xfrm>
            <a:off x="6693408" y="4754880"/>
            <a:ext cx="713232" cy="713232"/>
          </a:xfrm>
          <a:prstGeom prst="ellipse">
            <a:avLst/>
          </a:prstGeom>
          <a:solidFill>
            <a:srgbClr val="8169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3113" y="4954585"/>
            <a:ext cx="313822" cy="31382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626096" y="479145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결과 통보(CRM)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6711696" y="54864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합격·불합격 안내를 대상 그룹에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번의 클릭으로 발송합니다.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7315200" cy="7315200"/>
          </a:xfrm>
          <a:prstGeom prst="ellipse">
            <a:avLst/>
          </a:prstGeom>
          <a:solidFill>
            <a:srgbClr val="7C6BFF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159752" y="1828800"/>
            <a:ext cx="7315200" cy="7315200"/>
          </a:xfrm>
          <a:prstGeom prst="ellipse">
            <a:avLst/>
          </a:prstGeom>
          <a:solidFill>
            <a:srgbClr val="4C3AAE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HackSync</a:t>
            </a:r>
            <a:r>
              <a:rPr lang="en-US" sz="1700" b="1" dirty="0">
                <a:solidFill>
                  <a:srgbClr val="7C6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방식 vs HackSync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5394960" cy="566928"/>
          </a:xfrm>
          <a:prstGeom prst="roundRect">
            <a:avLst>
              <a:gd name="adj" fmla="val 19355"/>
            </a:avLst>
          </a:prstGeom>
          <a:solidFill>
            <a:srgbClr val="262050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8658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24028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방식 (도구 4~5개)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36792" y="2240280"/>
            <a:ext cx="5394960" cy="566928"/>
          </a:xfrm>
          <a:prstGeom prst="roundRect">
            <a:avLst>
              <a:gd name="adj" fmla="val 19355"/>
            </a:avLst>
          </a:prstGeom>
          <a:solidFill>
            <a:srgbClr val="7C6BFF"/>
          </a:solidFill>
          <a:ln/>
          <a:effectLst>
            <a:outerShdw blurRad="152400" dist="50800" dir="5400000" algn="bl" rotWithShape="0">
              <a:srgbClr val="7C6BFF">
                <a:alpha val="4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238658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22592" y="224028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HackSync (단 하나의 플랫폼)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40080" y="2971800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1D1742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209544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53312" y="297180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구글 폼·엑셀로 지원자 따로 관리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336792" y="2971800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2E2766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209544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50024" y="297180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지원·명단·현황을 한 화면에서 관리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40080" y="3813048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1D1742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050792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53312" y="3813048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오픈채팅에서 수작업 팀 빌딩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6336792" y="3813048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2E2766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050792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050024" y="3813048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스킬·매칭률 기반 팀원 추천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640080" y="4654296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1D1742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892040"/>
            <a:ext cx="237744" cy="23774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353312" y="4654296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엑셀로 점수 취합·수기 계산</a:t>
            </a:r>
            <a:endParaRPr lang="en-US" sz="1300" dirty="0"/>
          </a:p>
        </p:txBody>
      </p:sp>
      <p:sp>
        <p:nvSpPr>
          <p:cNvPr id="28" name="Shape 19"/>
          <p:cNvSpPr/>
          <p:nvPr/>
        </p:nvSpPr>
        <p:spPr>
          <a:xfrm>
            <a:off x="6336792" y="4654296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2E2766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892040"/>
            <a:ext cx="237744" cy="23774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050024" y="4654296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슬라이더 채점 → 총점 자동 집계</a:t>
            </a:r>
            <a:endParaRPr lang="en-US" sz="1300" dirty="0"/>
          </a:p>
        </p:txBody>
      </p:sp>
      <p:sp>
        <p:nvSpPr>
          <p:cNvPr id="31" name="Shape 21"/>
          <p:cNvSpPr/>
          <p:nvPr/>
        </p:nvSpPr>
        <p:spPr>
          <a:xfrm>
            <a:off x="640080" y="5495544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1D1742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5733288"/>
            <a:ext cx="237744" cy="237744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1353312" y="5495544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결과를 한 명씩 메일 발송</a:t>
            </a:r>
            <a:endParaRPr lang="en-US" sz="1300" dirty="0"/>
          </a:p>
        </p:txBody>
      </p:sp>
      <p:sp>
        <p:nvSpPr>
          <p:cNvPr id="34" name="Shape 23"/>
          <p:cNvSpPr/>
          <p:nvPr/>
        </p:nvSpPr>
        <p:spPr>
          <a:xfrm>
            <a:off x="6336792" y="5495544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2E2766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5733288"/>
            <a:ext cx="237744" cy="237744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7050024" y="5495544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그룹에 원클릭 일괄 통보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36876" y="-3200400"/>
            <a:ext cx="7315200" cy="7315200"/>
          </a:xfrm>
          <a:prstGeom prst="ellipse">
            <a:avLst/>
          </a:prstGeom>
          <a:solidFill>
            <a:srgbClr val="7C6BFF">
              <a:alpha val="1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828800" y="3200400"/>
            <a:ext cx="6400800" cy="6400800"/>
          </a:xfrm>
          <a:prstGeom prst="ellipse">
            <a:avLst/>
          </a:prstGeom>
          <a:solidFill>
            <a:srgbClr val="4C3AAE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HackSync</a:t>
            </a:r>
            <a:r>
              <a:rPr lang="en-US" sz="1700" b="1" dirty="0">
                <a:solidFill>
                  <a:srgbClr val="7C6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흩어진 운영을 하나로,</a:t>
            </a:r>
            <a:endParaRPr lang="en-US" sz="34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모두의 시간을 되돌려드립니다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45236" y="324612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262050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45236" y="3474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7B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45236" y="4160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리소스 절감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88436" y="324612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262050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488436" y="3474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7B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1개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488436" y="4160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플랫폼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1636" y="324612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262050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231636" y="3474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7B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231636" y="4160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역할별 전용 화면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74836" y="324612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262050"/>
          </a:solidFill>
          <a:ln/>
          <a:effectLst>
            <a:outerShdw blurRad="1143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974836" y="3474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7B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0번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8974836" y="4160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갈아타기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68396" y="5074920"/>
            <a:ext cx="5852160" cy="841248"/>
          </a:xfrm>
          <a:prstGeom prst="roundRect">
            <a:avLst>
              <a:gd name="adj" fmla="val 50000"/>
            </a:avLst>
          </a:prstGeom>
          <a:solidFill>
            <a:srgbClr val="7C6BFF"/>
          </a:solidFill>
          <a:ln/>
          <a:effectLst>
            <a:outerShdw blurRad="254000" dist="50800" dir="5400000" algn="bl" rotWithShape="0">
              <a:srgbClr val="7C6BFF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756" y="5285232"/>
            <a:ext cx="420624" cy="42062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265676" y="5074920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파편화된 대회 운영을, 하나의 코어로 동기화하다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7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HackSync · admin@hacksync.io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522</Words>
  <Application>Microsoft Office PowerPoint</Application>
  <PresentationFormat>와이드스크린</PresentationFormat>
  <Paragraphs>130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Pretendard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HackSync 소개</dc:title>
  <dc:subject>PptxGenJS Presentation</dc:subject>
  <dc:creator>HackSync</dc:creator>
  <cp:lastModifiedBy>영빈 손</cp:lastModifiedBy>
  <cp:revision>1</cp:revision>
  <dcterms:created xsi:type="dcterms:W3CDTF">2026-06-19T04:18:58Z</dcterms:created>
  <dcterms:modified xsi:type="dcterms:W3CDTF">2026-06-19T04:33:36Z</dcterms:modified>
</cp:coreProperties>
</file>